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deamay@gmail.com" userId="64a6c991c43d5f2a" providerId="LiveId" clId="{8A922407-743D-456D-89EA-6DB1A552442B}"/>
    <pc:docChg chg="delSld modSld">
      <pc:chgData name="godeamay@gmail.com" userId="64a6c991c43d5f2a" providerId="LiveId" clId="{8A922407-743D-456D-89EA-6DB1A552442B}" dt="2026-08-20T14:37:46.833" v="1" actId="2696"/>
      <pc:docMkLst>
        <pc:docMk/>
      </pc:docMkLst>
      <pc:sldChg chg="modSp del mod">
        <pc:chgData name="godeamay@gmail.com" userId="64a6c991c43d5f2a" providerId="LiveId" clId="{8A922407-743D-456D-89EA-6DB1A552442B}" dt="2026-08-20T14:37:46.833" v="1" actId="2696"/>
        <pc:sldMkLst>
          <pc:docMk/>
          <pc:sldMk cId="0" sldId="267"/>
        </pc:sldMkLst>
        <pc:picChg chg="mod">
          <ac:chgData name="godeamay@gmail.com" userId="64a6c991c43d5f2a" providerId="LiveId" clId="{8A922407-743D-456D-89EA-6DB1A552442B}" dt="2026-08-20T14:37:42.539" v="0" actId="1076"/>
          <ac:picMkLst>
            <pc:docMk/>
            <pc:sldMk cId="0" sldId="267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812" y="3774727"/>
            <a:ext cx="6810375" cy="14915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384" y="1591716"/>
            <a:ext cx="9851231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sz="6000" b="0" i="0" u="none">
                <a:solidFill>
                  <a:srgbClr val="F8FAFC"/>
                </a:solidFill>
                <a:latin typeface="Outfit ExtraBold"/>
              </a:rPr>
              <a:t>Customer Churn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48150" y="2620416"/>
            <a:ext cx="3695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0" i="0" u="none">
                <a:solidFill>
                  <a:srgbClr val="F8FAFC"/>
                </a:solidFill>
                <a:latin typeface="Inter Medium"/>
              </a:rPr>
              <a:t>Machine 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1337" y="4022377"/>
            <a:ext cx="6029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Presented by: </a:t>
            </a:r>
            <a:r>
              <a:rPr sz="1500" b="0" i="0" u="none">
                <a:solidFill>
                  <a:srgbClr val="38BDF8"/>
                </a:solidFill>
                <a:latin typeface="Inter SemiBold"/>
              </a:rPr>
              <a:t>Amey Mahesh Gode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81337" y="4374802"/>
            <a:ext cx="6029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Dilkap Research Institute of Engineering and Management Studies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337" y="4774852"/>
            <a:ext cx="60293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AI &amp; Machine Learning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583" y="1976437"/>
            <a:ext cx="4706391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1824632"/>
            <a:ext cx="5466308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94A3B8"/>
                </a:solidFill>
                <a:latin typeface="Inter"/>
              </a:rPr>
              <a:t>Definition: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 Customer churn signifies when a customer stops using a company's products or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2685454"/>
            <a:ext cx="5466308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94A3B8"/>
                </a:solidFill>
                <a:latin typeface="Inter"/>
              </a:rPr>
              <a:t>Primary Goal: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 To proactively predict which current customers are highly likely to churn in the near future.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546276"/>
            <a:ext cx="5466308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94A3B8"/>
                </a:solidFill>
                <a:latin typeface="Inter"/>
              </a:rPr>
              <a:t>Methodology: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 Advanced Machine Learning techniques are leveraged to discover complex patterns within historical customer datasets.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742259"/>
            <a:ext cx="5466308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94A3B8"/>
                </a:solidFill>
                <a:latin typeface="Inter"/>
              </a:rPr>
              <a:t>Deployment: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 The final trained predictive model is deployed as an accessible, interactive Streamlit web application.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108" y="1985962"/>
            <a:ext cx="4687341" cy="3790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1824632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2685454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546276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742259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993874"/>
            <a:ext cx="10477500" cy="1165621"/>
          </a:xfrm>
          <a:prstGeom prst="roundRect">
            <a:avLst>
              <a:gd name="adj" fmla="val 980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7775" y="1231999"/>
            <a:ext cx="9572625" cy="689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Inter SemiBold"/>
              </a:rPr>
              <a:t>The Core Problem: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 Telecom companies face significant revenue loss due to customer attrition driven by various factors like contract types, high charges, and service quality.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2349996"/>
            <a:ext cx="10477500" cy="830460"/>
          </a:xfrm>
          <a:prstGeom prst="roundRect">
            <a:avLst>
              <a:gd name="adj" fmla="val 1376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47775" y="2588121"/>
            <a:ext cx="9572625" cy="354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Inter SemiBold"/>
              </a:rPr>
              <a:t>Objective 1: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 Accurately predict potential customer churn to enable proactive retention strategies.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3370957"/>
            <a:ext cx="10477500" cy="830460"/>
          </a:xfrm>
          <a:prstGeom prst="roundRect">
            <a:avLst>
              <a:gd name="adj" fmla="val 1376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47775" y="3609082"/>
            <a:ext cx="9572625" cy="354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Inter SemiBold"/>
              </a:rPr>
              <a:t>Objective 2: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 Thoroughly analyze customer-related features to understand primary churn drivers.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1025" y="4391917"/>
            <a:ext cx="10477500" cy="830460"/>
          </a:xfrm>
          <a:prstGeom prst="roundRect">
            <a:avLst>
              <a:gd name="adj" fmla="val 1376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47775" y="4630042"/>
            <a:ext cx="9572625" cy="354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Inter SemiBold"/>
              </a:rPr>
              <a:t>Objective 3: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 Train, evaluate, and systematically compare multiple ML classification algorithms.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1025" y="5412878"/>
            <a:ext cx="10477500" cy="1165621"/>
          </a:xfrm>
          <a:prstGeom prst="roundRect">
            <a:avLst>
              <a:gd name="adj" fmla="val 980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47775" y="5651003"/>
            <a:ext cx="9572625" cy="689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Inter SemiBold"/>
              </a:rPr>
              <a:t>Objective 4 &amp; 5: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 Select the highest-performing model, serialize it, and deploy it using a Streamlit web interface.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2149971"/>
            <a:ext cx="10477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3170932"/>
            <a:ext cx="10477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4191892"/>
            <a:ext cx="10477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5212853"/>
            <a:ext cx="10477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6568975"/>
            <a:ext cx="10477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1236761"/>
            <a:ext cx="266700" cy="2762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2592883"/>
            <a:ext cx="266700" cy="2762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3613844"/>
            <a:ext cx="304800" cy="2762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4634805"/>
            <a:ext cx="266700" cy="2762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5655766"/>
            <a:ext cx="266700" cy="2762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88999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Problem Statement &amp;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771525"/>
            <a:ext cx="5290661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Dataset Details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9525"/>
            <a:ext cx="580072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1676400"/>
            <a:ext cx="5038725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94A3B8"/>
                </a:solidFill>
                <a:latin typeface="Inter"/>
              </a:rPr>
              <a:t>Source Dataset:</a:t>
            </a:r>
            <a:r>
              <a:rPr sz="1800" b="0" i="0" u="none">
                <a:solidFill>
                  <a:srgbClr val="94A3B8"/>
                </a:solidFill>
                <a:latin typeface="Inter"/>
              </a:rPr>
              <a:t> Telco Customer Churn dataset, providing a comprehensive historical view of telecom users.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011537"/>
            <a:ext cx="5038725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94A3B8"/>
                </a:solidFill>
                <a:latin typeface="Inter"/>
              </a:rPr>
              <a:t>Data Scope:</a:t>
            </a:r>
            <a:r>
              <a:rPr sz="1800" b="0" i="0" u="none">
                <a:solidFill>
                  <a:srgbClr val="94A3B8"/>
                </a:solidFill>
                <a:latin typeface="Inter"/>
              </a:rPr>
              <a:t> The dataset encompasses detailed customer demographics, active service subscriptions, and account billing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4712344"/>
            <a:ext cx="5038725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94A3B8"/>
                </a:solidFill>
                <a:latin typeface="Inter"/>
              </a:rPr>
              <a:t>Key Features:</a:t>
            </a:r>
            <a:r>
              <a:rPr sz="1800" b="0" i="0" u="none">
                <a:solidFill>
                  <a:srgbClr val="94A3B8"/>
                </a:solidFill>
                <a:latin typeface="Inter"/>
              </a:rPr>
              <a:t> Critical predictors include customer tenure, contract type, internet service provider, payment method, and monthly/total charges.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13152"/>
            <a:ext cx="4895850" cy="4448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38BDF8"/>
                </a:solidFill>
                <a:latin typeface="Inter"/>
              </a:rPr>
              <a:t>Target Variable:</a:t>
            </a:r>
            <a:r>
              <a:rPr sz="1800" b="0" i="0" u="none">
                <a:solidFill>
                  <a:srgbClr val="38BDF8"/>
                </a:solidFill>
                <a:latin typeface="Inter"/>
              </a:rPr>
              <a:t> </a:t>
            </a:r>
            <a:r>
              <a:rPr sz="1800" b="0" i="1" u="none">
                <a:solidFill>
                  <a:srgbClr val="38BDF8"/>
                </a:solidFill>
                <a:latin typeface="Inter"/>
              </a:rPr>
              <a:t>Churn</a:t>
            </a:r>
            <a:r>
              <a:rPr sz="1800" b="0" i="0" u="none">
                <a:solidFill>
                  <a:srgbClr val="38BDF8"/>
                </a:solidFill>
                <a:latin typeface="Inter"/>
              </a:rPr>
              <a:t> (Yes = customer churned, No = customer stayed).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525" y="6413152"/>
            <a:ext cx="38100" cy="731341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55849"/>
            <a:ext cx="3486150" cy="46511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555849"/>
            <a:ext cx="3486150" cy="465117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555849"/>
            <a:ext cx="3486150" cy="465117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1898749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2898874"/>
            <a:ext cx="204025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Outfit SemiBold"/>
              </a:rPr>
              <a:t>1. Data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375124"/>
            <a:ext cx="2895600" cy="2346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Loaded and systematically inspected the dataset using Pandas. Handled missing or invalid values and removed unnecessary unique customer identifiers to prevent model bias.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1898749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8200" y="2898874"/>
            <a:ext cx="287035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Outfit SemiBold"/>
              </a:rPr>
              <a:t>2. Exploratory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375124"/>
            <a:ext cx="2895600" cy="2346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Utilized comprehensive EDA techniques and visual plots to uncover underlying churn patterns, feature correlations, and data distributions across different customer segments.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1898749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0100" y="2898874"/>
            <a:ext cx="283035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Outfit SemiBold"/>
              </a:rPr>
              <a:t>3. Feature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3375124"/>
            <a:ext cx="2895600" cy="2346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Separated independent features (X) from the target variable (y). Applied robust encoding to categorical variables and meticulously scaled numerical features for optimal model training.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987" y="2089249"/>
            <a:ext cx="428625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8700" y="2089249"/>
            <a:ext cx="381000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62975" y="2089249"/>
            <a:ext cx="47625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Data Preprocessing &amp; EDA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2581"/>
            <a:ext cx="5229225" cy="45577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602581"/>
            <a:ext cx="5229225" cy="4557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1993106"/>
            <a:ext cx="467058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Outfit SemiBold"/>
              </a:rPr>
              <a:t>Logistic Regression &amp; Decision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469356"/>
            <a:ext cx="44481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94A3B8"/>
                </a:solidFill>
                <a:latin typeface="Inter"/>
              </a:rPr>
              <a:t>Logistic Regression: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 Utilized as the primary baseline classification model to establish initial linear predictive performance and interpretability.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952875"/>
            <a:ext cx="44481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94A3B8"/>
                </a:solidFill>
                <a:latin typeface="Inter"/>
              </a:rPr>
              <a:t>Decision Tree: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 Deployed to effectively capture and map out non-linear decision rules and complex thresholds within the customer attribute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1993106"/>
            <a:ext cx="4670583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Outfit SemiBold"/>
              </a:rPr>
              <a:t>Random Forest &amp; K-Nearest Neighbors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2802731"/>
            <a:ext cx="44481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94A3B8"/>
                </a:solidFill>
                <a:latin typeface="Inter"/>
              </a:rPr>
              <a:t>Random Forest: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 An advanced ensemble method combining multiple decision trees to significantly reduce overfitting and improve overall generalizability.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4286250"/>
            <a:ext cx="44481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94A3B8"/>
                </a:solidFill>
                <a:latin typeface="Inter"/>
              </a:rPr>
              <a:t>KNN (K-Nearest Neighbors):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 A specialized algorithm that predicts churn probability based on the behavioral proximity of nearby customer observations.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Machine Learning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491132"/>
            <a:ext cx="10477500" cy="1165621"/>
          </a:xfrm>
          <a:prstGeom prst="roundRect">
            <a:avLst>
              <a:gd name="adj" fmla="val 980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7775" y="729257"/>
            <a:ext cx="9572625" cy="689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Inter SemiBold"/>
              </a:rPr>
              <a:t>Accuracy: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 Measures the overall ratio of correct predictions (both churned and retained customers) out of the total test dataset.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1847254"/>
            <a:ext cx="10477500" cy="1165621"/>
          </a:xfrm>
          <a:prstGeom prst="roundRect">
            <a:avLst>
              <a:gd name="adj" fmla="val 980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47775" y="2085379"/>
            <a:ext cx="9572625" cy="689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Inter SemiBold"/>
              </a:rPr>
              <a:t>Precision: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 Quantifies the strict correctness of predicted churn cases (minimizing false positives to avoid wasting retention budgets).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3203376"/>
            <a:ext cx="10477500" cy="1165621"/>
          </a:xfrm>
          <a:prstGeom prst="roundRect">
            <a:avLst>
              <a:gd name="adj" fmla="val 980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47775" y="3441501"/>
            <a:ext cx="9572625" cy="689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Inter SemiBold"/>
              </a:rPr>
              <a:t>Recall (Sensitivity):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 Evaluates the model's vital ability to successfully identify actual churn customers (minimizing false negatives).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1025" y="4559498"/>
            <a:ext cx="10477500" cy="1165621"/>
          </a:xfrm>
          <a:prstGeom prst="roundRect">
            <a:avLst>
              <a:gd name="adj" fmla="val 980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47775" y="4797623"/>
            <a:ext cx="9572625" cy="689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Inter SemiBold"/>
              </a:rPr>
              <a:t>F1 Score: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 Provides a harmonic balance between precision and recall, crucial for handling imbalanced churn datasets.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1025" y="5915620"/>
            <a:ext cx="10477500" cy="1165621"/>
          </a:xfrm>
          <a:prstGeom prst="roundRect">
            <a:avLst>
              <a:gd name="adj" fmla="val 980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47775" y="6153745"/>
            <a:ext cx="9572625" cy="689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Inter SemiBold"/>
              </a:rPr>
              <a:t>Final Selection: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 The best model was strategically chosen based on holistic project evaluation results, prioritizing </a:t>
            </a:r>
            <a:r>
              <a:rPr sz="1650" b="0" i="1" u="none">
                <a:solidFill>
                  <a:srgbClr val="94A3B8"/>
                </a:solidFill>
                <a:latin typeface="Inter"/>
              </a:rPr>
              <a:t>F1 Score and Recall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1647229"/>
            <a:ext cx="10477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3003351"/>
            <a:ext cx="10477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4359473"/>
            <a:ext cx="10477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5715595"/>
            <a:ext cx="10477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7071717"/>
            <a:ext cx="10477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734020"/>
            <a:ext cx="238125" cy="2762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2090142"/>
            <a:ext cx="266700" cy="2762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3446264"/>
            <a:ext cx="266700" cy="2762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4802385"/>
            <a:ext cx="333375" cy="2762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6158507"/>
            <a:ext cx="304800" cy="2762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-413742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Model Evaluation &amp; Best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583" y="1976437"/>
            <a:ext cx="4706391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1657052"/>
            <a:ext cx="5466308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The highest-performing, finalized model was efficiently serialized and saved utilizing Joblib as churn_model.pkl.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2853035"/>
            <a:ext cx="5466308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This serialized model pipeline is seamlessly loaded and initialized by the Streamlit web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713857"/>
            <a:ext cx="5466308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End-users, such as customer success agents, can input live customer details through an intuitive, interactive web 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909839"/>
            <a:ext cx="5466308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The application instantly routes the inputs through the trained pipeline and visually outputs the churn prediction and exact churn probability percentage.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108" y="1985962"/>
            <a:ext cx="4687341" cy="3790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1657052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2853035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713857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909839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Model Saving &amp; Streamlit 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930973"/>
            <a:ext cx="2536775" cy="14933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033" y="2675632"/>
            <a:ext cx="2536775" cy="14933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042" y="4930973"/>
            <a:ext cx="2536775" cy="149334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4050" y="2675632"/>
            <a:ext cx="2536775" cy="14933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3212901"/>
            <a:ext cx="100584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1" i="0" u="none">
                <a:solidFill>
                  <a:srgbClr val="94A3B8"/>
                </a:solidFill>
                <a:latin typeface="Inter"/>
              </a:rPr>
              <a:t>Result: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 An end-to-end churn prediction system was successfully developed.</a:t>
            </a:r>
            <a:r>
              <a:t>
</a:t>
            </a:r>
            <a:r>
              <a:rPr sz="1650" b="0" i="0" u="none">
                <a:solidFill>
                  <a:srgbClr val="94A3B8"/>
                </a:solidFill>
                <a:latin typeface="Inter"/>
              </a:rPr>
              <a:t> The deployed system effectively empowers businesses to identify customers at severe risk of leaving.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025" y="4530923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7631" y="5130998"/>
            <a:ext cx="224356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38BDF8"/>
                </a:solidFill>
                <a:latin typeface="Outfit SemiBold"/>
              </a:rPr>
              <a:t>1. 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5492948"/>
            <a:ext cx="2136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Dataset Loading, Cleaning, and Exploratory Data Analysis (EDA).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8640" y="2875657"/>
            <a:ext cx="224356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38BDF8"/>
                </a:solidFill>
                <a:latin typeface="Outfit SemiBold"/>
              </a:rPr>
              <a:t>2.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2058" y="3237607"/>
            <a:ext cx="2136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Feature Preprocessing, Encoding, Scaling, and Train/Test Splitting.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9649" y="5130998"/>
            <a:ext cx="224356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38BDF8"/>
                </a:solidFill>
                <a:latin typeface="Outfit SemiBold"/>
              </a:rPr>
              <a:t>3. Modeling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3067" y="5492948"/>
            <a:ext cx="2136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Model Training, Hyper-Evaluation, and Best Model Selection.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0657" y="2875657"/>
            <a:ext cx="224356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38BDF8"/>
                </a:solidFill>
                <a:latin typeface="Outfit SemiBold"/>
              </a:rPr>
              <a:t>4.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4075" y="3237607"/>
            <a:ext cx="2136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Model Serialization (Saving) and Streamlit Web Application Launch.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5112" y="443567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66121" y="443567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97129" y="443567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28138" y="443567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Project Workflow &amp;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860821"/>
            <a:ext cx="5229225" cy="60412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860821"/>
            <a:ext cx="5229225" cy="60412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1251346"/>
            <a:ext cx="467058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Outfit SemiBold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2275" y="1251346"/>
            <a:ext cx="467058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Outfit SemiBold"/>
              </a:rPr>
              <a:t>Future Improvements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7300" y="1727596"/>
            <a:ext cx="41624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Customer churn prediction acts as a fundamental pillar to support data-driven customer retention programs.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7300" y="2923579"/>
            <a:ext cx="41624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This project successfully demonstrates a complete, end-to-end Machine Learning pipeline workflow.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300" y="4119562"/>
            <a:ext cx="416242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The integrated Streamlit interface bridges the gap between complex data science and practical, easy-to-use business applications.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8025" y="1727596"/>
            <a:ext cx="41624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Implementation of extensive hyperparameter tuning and k-fold cross-validation.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8025" y="2923579"/>
            <a:ext cx="41624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Exploration of advanced ensemble gradient boosting models like XGBoost or LightGBM.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8025" y="4119562"/>
            <a:ext cx="41624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Integration of Feature Importance and SHAP values for superior model explainability.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8025" y="5315545"/>
            <a:ext cx="41624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Upgrading the web dashboard capabilities and transitioning to scalable cloud deployment (AWS/GCP).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1727596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2923579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4119562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2275" y="1727596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2923579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2275" y="4119562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2275" y="5315545"/>
            <a:ext cx="952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025" y="-44053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Conclusion &amp; Future Scope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2297459"/>
            <a:ext cx="11581447" cy="1076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0" b="1" i="0" u="none">
                <a:solidFill>
                  <a:srgbClr val="F8FAFC"/>
                </a:solidFill>
                <a:latin typeface="Outfit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3564284"/>
            <a:ext cx="11029950" cy="85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94A3B8"/>
                </a:solidFill>
                <a:latin typeface="Inter"/>
              </a:rPr>
              <a:t>Are there any questions about the churn prediction models or the Streamlit deployment?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877</Words>
  <Application>Microsoft Office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Inter</vt:lpstr>
      <vt:lpstr>Inter Medium</vt:lpstr>
      <vt:lpstr>Inter SemiBold</vt:lpstr>
      <vt:lpstr>Outfit</vt:lpstr>
      <vt:lpstr>Outfit ExtraBold</vt:lpstr>
      <vt:lpstr>Outfit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godea</dc:creator>
  <cp:keywords/>
  <dc:description>generated using python-pptx</dc:description>
  <cp:lastModifiedBy>godeamay@gmail.com</cp:lastModifiedBy>
  <cp:revision>1</cp:revision>
  <dcterms:created xsi:type="dcterms:W3CDTF">2013-01-27T09:14:16Z</dcterms:created>
  <dcterms:modified xsi:type="dcterms:W3CDTF">2026-08-20T14:37:49Z</dcterms:modified>
  <cp:category/>
</cp:coreProperties>
</file>